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50" r:id="rId1"/>
  </p:sldMasterIdLst>
  <p:sldIdLst>
    <p:sldId id="256" r:id="rId2"/>
    <p:sldId id="257" r:id="rId3"/>
    <p:sldId id="258" r:id="rId4"/>
    <p:sldId id="260" r:id="rId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62C9CDA-06AD-448B-AE43-AF39E35C9415}" v="1" dt="2024-07-21T12:56:05.144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7400" autoAdjust="0"/>
    <p:restoredTop sz="96236" autoAdjust="0"/>
  </p:normalViewPr>
  <p:slideViewPr>
    <p:cSldViewPr snapToGrid="0">
      <p:cViewPr varScale="1">
        <p:scale>
          <a:sx n="81" d="100"/>
          <a:sy n="81" d="100"/>
        </p:scale>
        <p:origin x="312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 bwMode="blackWhite">
          <a:xfrm>
            <a:off x="1600200" y="2386744"/>
            <a:ext cx="8991600" cy="1645920"/>
          </a:xfrm>
          <a:solidFill>
            <a:srgbClr val="FFFFFF"/>
          </a:solidFill>
          <a:ln w="38100">
            <a:solidFill>
              <a:srgbClr val="404040"/>
            </a:solidFill>
          </a:ln>
        </p:spPr>
        <p:txBody>
          <a:bodyPr lIns="274320" rIns="274320" anchor="ctr" anchorCtr="1">
            <a:normAutofit/>
          </a:bodyPr>
          <a:lstStyle>
            <a:lvl1pPr algn="ctr">
              <a:defRPr sz="3800">
                <a:solidFill>
                  <a:srgbClr val="26262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95194" y="4352544"/>
            <a:ext cx="6801612" cy="1239894"/>
          </a:xfrm>
          <a:noFill/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4130FF-60BC-4C0C-AEE3-7285F2A694C4}" type="datetimeFigureOut">
              <a:rPr lang="nb-NO" smtClean="0"/>
              <a:t>02.10.2025</a:t>
            </a:fld>
            <a:endParaRPr lang="nb-NO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b-NO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9F6004-803D-4B18-B659-7E2122392222}" type="slidenum">
              <a:rPr lang="nb-NO" smtClean="0"/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55369672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4130FF-60BC-4C0C-AEE3-7285F2A694C4}" type="datetimeFigureOut">
              <a:rPr lang="nb-NO" smtClean="0"/>
              <a:t>02.10.2025</a:t>
            </a:fld>
            <a:endParaRPr lang="nb-NO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b-NO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9F6004-803D-4B18-B659-7E2122392222}" type="slidenum">
              <a:rPr lang="nb-NO" smtClean="0"/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59075473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 bwMode="blackWhite">
          <a:xfrm>
            <a:off x="1600200" y="2386744"/>
            <a:ext cx="8991600" cy="1645920"/>
          </a:xfrm>
          <a:solidFill>
            <a:srgbClr val="FFFFFF"/>
          </a:solidFill>
          <a:ln w="38100">
            <a:solidFill>
              <a:srgbClr val="404040"/>
            </a:solidFill>
          </a:ln>
        </p:spPr>
        <p:txBody>
          <a:bodyPr lIns="274320" rIns="274320" anchor="ctr" anchorCtr="1">
            <a:normAutofit/>
          </a:bodyPr>
          <a:lstStyle>
            <a:lvl1pPr>
              <a:defRPr sz="3800">
                <a:solidFill>
                  <a:srgbClr val="26262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695194" y="4352465"/>
            <a:ext cx="6801612" cy="1265082"/>
          </a:xfrm>
        </p:spPr>
        <p:txBody>
          <a:bodyPr anchor="t" anchorCtr="1"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4130FF-60BC-4C0C-AEE3-7285F2A694C4}" type="datetimeFigureOut">
              <a:rPr lang="nb-NO" smtClean="0"/>
              <a:t>02.10.2025</a:t>
            </a:fld>
            <a:endParaRPr lang="nb-NO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b-NO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9F6004-803D-4B18-B659-7E2122392222}" type="slidenum">
              <a:rPr lang="nb-NO" smtClean="0"/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225228087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581912" y="2638044"/>
            <a:ext cx="4271771" cy="3101982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38315" y="2638044"/>
            <a:ext cx="4270247" cy="3101982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4130FF-60BC-4C0C-AEE3-7285F2A694C4}" type="datetimeFigureOut">
              <a:rPr lang="nb-NO" smtClean="0"/>
              <a:t>02.10.2025</a:t>
            </a:fld>
            <a:endParaRPr lang="nb-NO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b-NO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9F6004-803D-4B18-B659-7E2122392222}" type="slidenum">
              <a:rPr lang="nb-NO" smtClean="0"/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111631551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83436" y="2313433"/>
            <a:ext cx="4270248" cy="704087"/>
          </a:xfrm>
        </p:spPr>
        <p:txBody>
          <a:bodyPr anchor="b" anchorCtr="1">
            <a:normAutofit/>
          </a:bodyPr>
          <a:lstStyle>
            <a:lvl1pPr marL="0" indent="0" algn="ctr">
              <a:buNone/>
              <a:defRPr sz="1900" b="0" cap="all" spc="100" baseline="0">
                <a:solidFill>
                  <a:schemeClr val="accent2"/>
                </a:solidFill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583436" y="3143250"/>
            <a:ext cx="4270248" cy="2596776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338316" y="3143250"/>
            <a:ext cx="4253484" cy="2596776"/>
          </a:xfrm>
        </p:spPr>
        <p:txBody>
          <a:bodyPr/>
          <a:lstStyle>
            <a:lvl5pPr>
              <a:defRPr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6338316" y="2313433"/>
            <a:ext cx="4270248" cy="704087"/>
          </a:xfrm>
        </p:spPr>
        <p:txBody>
          <a:bodyPr anchor="b" anchorCtr="1">
            <a:normAutofit/>
          </a:bodyPr>
          <a:lstStyle>
            <a:lvl1pPr marL="0" indent="0" algn="ctr">
              <a:buNone/>
              <a:defRPr sz="1900" b="0" cap="all" spc="100" baseline="0">
                <a:solidFill>
                  <a:schemeClr val="accent2"/>
                </a:solidFill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4130FF-60BC-4C0C-AEE3-7285F2A694C4}" type="datetimeFigureOut">
              <a:rPr lang="nb-NO" smtClean="0"/>
              <a:t>02.10.2025</a:t>
            </a:fld>
            <a:endParaRPr lang="nb-NO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b-NO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9F6004-803D-4B18-B659-7E2122392222}" type="slidenum">
              <a:rPr lang="nb-NO" smtClean="0"/>
              <a:t>‹#›</a:t>
            </a:fld>
            <a:endParaRPr lang="nb-NO"/>
          </a:p>
        </p:txBody>
      </p:sp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1764838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4130FF-60BC-4C0C-AEE3-7285F2A694C4}" type="datetimeFigureOut">
              <a:rPr lang="nb-NO" smtClean="0"/>
              <a:t>02.10.2025</a:t>
            </a:fld>
            <a:endParaRPr lang="nb-NO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b-NO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9F6004-803D-4B18-B659-7E2122392222}" type="slidenum">
              <a:rPr lang="nb-NO" smtClean="0"/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86073555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4130FF-60BC-4C0C-AEE3-7285F2A694C4}" type="datetimeFigureOut">
              <a:rPr lang="nb-NO" smtClean="0"/>
              <a:t>02.10.2025</a:t>
            </a:fld>
            <a:endParaRPr lang="nb-NO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b-NO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9F6004-803D-4B18-B659-7E2122392222}" type="slidenum">
              <a:rPr lang="nb-NO" smtClean="0"/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9251996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ectangle 25"/>
          <p:cNvSpPr/>
          <p:nvPr/>
        </p:nvSpPr>
        <p:spPr>
          <a:xfrm>
            <a:off x="0" y="0"/>
            <a:ext cx="609600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 bwMode="blackWhite">
          <a:xfrm>
            <a:off x="804672" y="2243828"/>
            <a:ext cx="4486656" cy="1141497"/>
          </a:xfrm>
          <a:solidFill>
            <a:srgbClr val="FFFFFF"/>
          </a:solidFill>
          <a:ln>
            <a:solidFill>
              <a:srgbClr val="404040"/>
            </a:solidFill>
          </a:ln>
        </p:spPr>
        <p:txBody>
          <a:bodyPr anchor="ctr" anchorCtr="1">
            <a:normAutofit/>
          </a:bodyPr>
          <a:lstStyle>
            <a:lvl1pPr>
              <a:defRPr sz="2200">
                <a:solidFill>
                  <a:srgbClr val="26262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736080" y="804672"/>
            <a:ext cx="4815840" cy="5248656"/>
          </a:xfrm>
        </p:spPr>
        <p:txBody>
          <a:bodyPr>
            <a:normAutofit/>
          </a:bodyPr>
          <a:lstStyle>
            <a:lvl1pPr>
              <a:defRPr sz="1900">
                <a:solidFill>
                  <a:schemeClr val="tx1"/>
                </a:solidFill>
              </a:defRPr>
            </a:lvl1pPr>
            <a:lvl2pPr>
              <a:defRPr sz="1600">
                <a:solidFill>
                  <a:schemeClr val="tx1"/>
                </a:solidFill>
              </a:defRPr>
            </a:lvl2pPr>
            <a:lvl3pPr>
              <a:defRPr sz="1600">
                <a:solidFill>
                  <a:schemeClr val="tx1"/>
                </a:solidFill>
              </a:defRPr>
            </a:lvl3pPr>
            <a:lvl4pPr>
              <a:defRPr sz="1600">
                <a:solidFill>
                  <a:schemeClr val="tx1"/>
                </a:solidFill>
              </a:defRPr>
            </a:lvl4pPr>
            <a:lvl5pPr>
              <a:defRPr sz="1600">
                <a:solidFill>
                  <a:schemeClr val="tx1"/>
                </a:solidFill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15568" y="3549918"/>
            <a:ext cx="3794760" cy="2194036"/>
          </a:xfrm>
        </p:spPr>
        <p:txBody>
          <a:bodyPr anchor="t" anchorCtr="1">
            <a:normAutofit/>
          </a:bodyPr>
          <a:lstStyle>
            <a:lvl1pPr marL="0" indent="0" algn="ctr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9" name="Date Placeholder 8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4130FF-60BC-4C0C-AEE3-7285F2A694C4}" type="datetimeFigureOut">
              <a:rPr lang="nb-NO" smtClean="0"/>
              <a:t>02.10.2025</a:t>
            </a:fld>
            <a:endParaRPr lang="nb-NO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11"/>
          </p:nvPr>
        </p:nvSpPr>
        <p:spPr>
          <a:xfrm>
            <a:off x="804672" y="6236208"/>
            <a:ext cx="5124797" cy="320040"/>
          </a:xfrm>
        </p:spPr>
        <p:txBody>
          <a:bodyPr/>
          <a:lstStyle>
            <a:lvl1pPr>
              <a:defRPr>
                <a:solidFill>
                  <a:srgbClr val="FFFFFF">
                    <a:alpha val="70000"/>
                  </a:srgbClr>
                </a:solidFill>
              </a:defRPr>
            </a:lvl1pPr>
          </a:lstStyle>
          <a:p>
            <a:endParaRPr lang="nb-NO"/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9F6004-803D-4B18-B659-7E2122392222}" type="slidenum">
              <a:rPr lang="nb-NO" smtClean="0"/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332849317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/>
          <p:cNvSpPr/>
          <p:nvPr/>
        </p:nvSpPr>
        <p:spPr>
          <a:xfrm>
            <a:off x="0" y="0"/>
            <a:ext cx="6095999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 bwMode="blackWhite">
          <a:xfrm>
            <a:off x="808523" y="2243828"/>
            <a:ext cx="4494998" cy="1134640"/>
          </a:xfrm>
          <a:solidFill>
            <a:srgbClr val="FFFFFF"/>
          </a:solidFill>
          <a:ln>
            <a:solidFill>
              <a:srgbClr val="404040"/>
            </a:solidFill>
          </a:ln>
        </p:spPr>
        <p:txBody>
          <a:bodyPr anchor="ctr" anchorCtr="1">
            <a:noAutofit/>
          </a:bodyPr>
          <a:lstStyle>
            <a:lvl1pPr>
              <a:defRPr sz="2200">
                <a:solidFill>
                  <a:srgbClr val="26262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095999" y="0"/>
            <a:ext cx="6102097" cy="6858000"/>
          </a:xfrm>
          <a:solidFill>
            <a:schemeClr val="tx1">
              <a:lumMod val="85000"/>
            </a:schemeClr>
          </a:solidFill>
        </p:spPr>
        <p:txBody>
          <a:bodyPr anchor="t"/>
          <a:lstStyle>
            <a:lvl1pPr marL="0" indent="0">
              <a:buNone/>
              <a:defRPr sz="3200">
                <a:solidFill>
                  <a:schemeClr val="bg1">
                    <a:lumMod val="85000"/>
                    <a:lumOff val="15000"/>
                  </a:schemeClr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15568" y="3549918"/>
            <a:ext cx="3794760" cy="2194037"/>
          </a:xfrm>
        </p:spPr>
        <p:txBody>
          <a:bodyPr anchor="t" anchorCtr="1">
            <a:normAutofit/>
          </a:bodyPr>
          <a:lstStyle>
            <a:lvl1pPr marL="0" indent="0" algn="ctr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  <a:effectLst>
                  <a:outerShdw blurRad="50800" dist="38100" dir="2700000" algn="tl" rotWithShape="0">
                    <a:prstClr val="black">
                      <a:alpha val="43000"/>
                    </a:prstClr>
                  </a:outerShdw>
                </a:effectLst>
              </a:defRPr>
            </a:lvl1pPr>
          </a:lstStyle>
          <a:p>
            <a:fld id="{1E4130FF-60BC-4C0C-AEE3-7285F2A694C4}" type="datetimeFigureOut">
              <a:rPr lang="nb-NO" smtClean="0"/>
              <a:t>02.10.2025</a:t>
            </a:fld>
            <a:endParaRPr lang="nb-NO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>
          <a:xfrm>
            <a:off x="804672" y="6236208"/>
            <a:ext cx="5124797" cy="320040"/>
          </a:xfrm>
        </p:spPr>
        <p:txBody>
          <a:bodyPr/>
          <a:lstStyle>
            <a:lvl1pPr>
              <a:defRPr>
                <a:solidFill>
                  <a:srgbClr val="FFFFFF">
                    <a:alpha val="70000"/>
                  </a:srgbClr>
                </a:solidFill>
              </a:defRPr>
            </a:lvl1pPr>
          </a:lstStyle>
          <a:p>
            <a:endParaRPr lang="nb-NO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9F6004-803D-4B18-B659-7E2122392222}" type="slidenum">
              <a:rPr lang="nb-NO" smtClean="0"/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378509495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4130FF-60BC-4C0C-AEE3-7285F2A694C4}" type="datetimeFigureOut">
              <a:rPr lang="nb-NO" smtClean="0"/>
              <a:t>02.10.2025</a:t>
            </a:fld>
            <a:endParaRPr lang="nb-N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b-N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9F6004-803D-4B18-B659-7E2122392222}" type="slidenum">
              <a:rPr lang="nb-NO" smtClean="0"/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321987310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53112" y="937260"/>
            <a:ext cx="1298608" cy="498348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231136" y="937260"/>
            <a:ext cx="6198489" cy="4983480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4130FF-60BC-4C0C-AEE3-7285F2A694C4}" type="datetimeFigureOut">
              <a:rPr lang="nb-NO" smtClean="0"/>
              <a:t>02.10.2025</a:t>
            </a:fld>
            <a:endParaRPr lang="nb-N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b-N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9F6004-803D-4B18-B659-7E2122392222}" type="slidenum">
              <a:rPr lang="nb-NO" smtClean="0"/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222349186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black">
          <a:xfrm>
            <a:off x="2231136" y="964692"/>
            <a:ext cx="7729728" cy="1188720"/>
          </a:xfrm>
          <a:prstGeom prst="rect">
            <a:avLst/>
          </a:prstGeom>
          <a:solidFill>
            <a:schemeClr val="bg2">
              <a:lumMod val="60000"/>
              <a:lumOff val="40000"/>
              <a:alpha val="15000"/>
            </a:schemeClr>
          </a:solidFill>
          <a:ln w="31750" cap="sq">
            <a:solidFill>
              <a:schemeClr val="tx1">
                <a:lumMod val="75000"/>
                <a:lumOff val="25000"/>
              </a:schemeClr>
            </a:solidFill>
            <a:miter lim="800000"/>
          </a:ln>
        </p:spPr>
        <p:txBody>
          <a:bodyPr vert="horz" lIns="182880" tIns="182880" rIns="182880" bIns="18288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231136" y="2638044"/>
            <a:ext cx="7729728" cy="310198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821429" y="6238816"/>
            <a:ext cx="2753746" cy="32396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alpha val="70000"/>
                  </a:schemeClr>
                </a:solidFill>
              </a:defRPr>
            </a:lvl1pPr>
          </a:lstStyle>
          <a:p>
            <a:fld id="{1E4130FF-60BC-4C0C-AEE3-7285F2A694C4}" type="datetimeFigureOut">
              <a:rPr lang="nb-NO" smtClean="0"/>
              <a:t>02.10.2025</a:t>
            </a:fld>
            <a:endParaRPr lang="nb-N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600200" y="6236208"/>
            <a:ext cx="5901189" cy="32004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>
                    <a:alpha val="70000"/>
                  </a:schemeClr>
                </a:solidFill>
              </a:defRPr>
            </a:lvl1pPr>
          </a:lstStyle>
          <a:p>
            <a:endParaRPr lang="nb-N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758922" y="6217920"/>
            <a:ext cx="365760" cy="365760"/>
          </a:xfrm>
          <a:prstGeom prst="ellipse">
            <a:avLst/>
          </a:prstGeom>
          <a:solidFill>
            <a:srgbClr val="1D1D1D">
              <a:alpha val="69804"/>
            </a:srgbClr>
          </a:solidFill>
        </p:spPr>
        <p:txBody>
          <a:bodyPr vert="horz" lIns="18288" tIns="45720" rIns="18288" bIns="45720" rtlCol="0" anchor="ctr">
            <a:noAutofit/>
          </a:bodyPr>
          <a:lstStyle>
            <a:lvl1pPr algn="ctr">
              <a:defRPr sz="1100" spc="0" baseline="0">
                <a:solidFill>
                  <a:srgbClr val="FFFFFF"/>
                </a:solidFill>
              </a:defRPr>
            </a:lvl1pPr>
          </a:lstStyle>
          <a:p>
            <a:fld id="{0D9F6004-803D-4B18-B659-7E2122392222}" type="slidenum">
              <a:rPr lang="nb-NO" smtClean="0"/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256896062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51" r:id="rId1"/>
    <p:sldLayoutId id="2147483752" r:id="rId2"/>
    <p:sldLayoutId id="2147483753" r:id="rId3"/>
    <p:sldLayoutId id="2147483754" r:id="rId4"/>
    <p:sldLayoutId id="2147483755" r:id="rId5"/>
    <p:sldLayoutId id="2147483756" r:id="rId6"/>
    <p:sldLayoutId id="2147483757" r:id="rId7"/>
    <p:sldLayoutId id="2147483758" r:id="rId8"/>
    <p:sldLayoutId id="2147483759" r:id="rId9"/>
    <p:sldLayoutId id="2147483760" r:id="rId10"/>
    <p:sldLayoutId id="2147483761" r:id="rId11"/>
  </p:sldLayoutIdLst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2800" kern="1200" cap="all" spc="200" baseline="0">
          <a:solidFill>
            <a:schemeClr val="tx1">
              <a:lumMod val="85000"/>
              <a:lumOff val="15000"/>
            </a:schemeClr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1pPr>
      <a:lvl2pPr marL="4572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2pPr>
      <a:lvl3pPr marL="6858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3pPr>
      <a:lvl4pPr marL="9144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4pPr>
      <a:lvl5pPr marL="11430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5pPr>
      <a:lvl6pPr marL="1312863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1484313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165735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1882775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pattFill prst="pct50">
          <a:fgClr>
            <a:schemeClr val="accent2"/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5BBA98-EC22-9272-C976-54487400DC9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Marketing Analytics Business Case</a:t>
            </a:r>
            <a:endParaRPr lang="nb-NO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7280798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A541373F-6A73-4B5F-E4FC-95E89DA165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20052" y="323670"/>
            <a:ext cx="8524847" cy="1080924"/>
          </a:xfrm>
          <a:solidFill>
            <a:schemeClr val="bg1">
              <a:lumMod val="95000"/>
            </a:schemeClr>
          </a:solidFill>
          <a:ln>
            <a:solidFill>
              <a:schemeClr val="bg2">
                <a:lumMod val="75000"/>
              </a:schemeClr>
            </a:solidFill>
          </a:ln>
        </p:spPr>
        <p:txBody>
          <a:bodyPr/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 to Business Problem</a:t>
            </a:r>
            <a:endParaRPr lang="nb-NO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FFB07957-8AEC-E74B-74C4-5935935C91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26393"/>
            <a:ext cx="10515600" cy="4351338"/>
          </a:xfrm>
        </p:spPr>
        <p:txBody>
          <a:bodyPr>
            <a:noAutofit/>
          </a:bodyPr>
          <a:lstStyle/>
          <a:p>
            <a:pPr algn="just">
              <a:lnSpc>
                <a:spcPct val="170000"/>
              </a:lnSpc>
            </a:pP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EasyShop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an online retail business, is facing reduced customer engagement and conversion rates despite launching several new online marketing campaigns. They are reaching out to you to help conduct a detailed analysis and identify areas for improvement in their marketing strategies.</a:t>
            </a:r>
          </a:p>
          <a:p>
            <a:pPr algn="just">
              <a:lnSpc>
                <a:spcPct val="170000"/>
              </a:lnSpc>
            </a:pP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Key Points:</a:t>
            </a:r>
          </a:p>
          <a:p>
            <a:pPr lvl="1" algn="just">
              <a:lnSpc>
                <a:spcPct val="170000"/>
              </a:lnSpc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Reduced Customer Engagement: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The number of customer interactions and engagement with the site and marketing content has declined.</a:t>
            </a:r>
          </a:p>
          <a:p>
            <a:pPr lvl="1" algn="just">
              <a:lnSpc>
                <a:spcPct val="170000"/>
              </a:lnSpc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Decreased Conversion Rates: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Fewer site visitors are converting into paying customers.</a:t>
            </a:r>
          </a:p>
          <a:p>
            <a:pPr lvl="1" algn="just">
              <a:lnSpc>
                <a:spcPct val="170000"/>
              </a:lnSpc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High Marketing Expenses: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Significant investments in marketing campaigns are not yielding expected returns.</a:t>
            </a:r>
          </a:p>
          <a:p>
            <a:pPr lvl="1" algn="just">
              <a:lnSpc>
                <a:spcPct val="170000"/>
              </a:lnSpc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Need for Customer Feedback Analysis: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Understanding customer opinions about products and services is crucial for improving engagement and conversions.</a:t>
            </a:r>
          </a:p>
        </p:txBody>
      </p:sp>
    </p:spTree>
    <p:extLst>
      <p:ext uri="{BB962C8B-B14F-4D97-AF65-F5344CB8AC3E}">
        <p14:creationId xmlns:p14="http://schemas.microsoft.com/office/powerpoint/2010/main" val="123946850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9AAA8B0-E93B-E9BB-8C09-E2F8D0D61EB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99155" y="2204411"/>
            <a:ext cx="10793690" cy="3101983"/>
          </a:xfrm>
        </p:spPr>
        <p:txBody>
          <a:bodyPr>
            <a:normAutofit/>
          </a:bodyPr>
          <a:lstStyle/>
          <a:p>
            <a:pPr algn="just">
              <a:lnSpc>
                <a:spcPct val="150000"/>
              </a:lnSpc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Conversion Rate: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Percentage of website visitors who make a purchase.</a:t>
            </a:r>
          </a:p>
          <a:p>
            <a:pPr algn="just">
              <a:lnSpc>
                <a:spcPct val="150000"/>
              </a:lnSpc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Customer Engagement Rate: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Level of interaction with marketing content (clicks, likes, comments).</a:t>
            </a:r>
          </a:p>
          <a:p>
            <a:pPr algn="just">
              <a:lnSpc>
                <a:spcPct val="150000"/>
              </a:lnSpc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Average Order Value (AOV):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Average amount spent by a customer per transaction.</a:t>
            </a:r>
          </a:p>
          <a:p>
            <a:pPr algn="just">
              <a:lnSpc>
                <a:spcPct val="150000"/>
              </a:lnSpc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Customer Feedback Score: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Average rating from customer reviews.</a:t>
            </a:r>
            <a:endParaRPr lang="nb-NO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itle 3">
            <a:extLst>
              <a:ext uri="{FF2B5EF4-FFF2-40B4-BE49-F238E27FC236}">
                <a16:creationId xmlns:a16="http://schemas.microsoft.com/office/drawing/2014/main" id="{7F48BCBE-EC7D-4603-97AC-4F5CCAB288EF}"/>
              </a:ext>
            </a:extLst>
          </p:cNvPr>
          <p:cNvSpPr txBox="1">
            <a:spLocks/>
          </p:cNvSpPr>
          <p:nvPr/>
        </p:nvSpPr>
        <p:spPr bwMode="black">
          <a:xfrm>
            <a:off x="1729882" y="644182"/>
            <a:ext cx="8524847" cy="1080924"/>
          </a:xfrm>
          <a:prstGeom prst="rect">
            <a:avLst/>
          </a:prstGeom>
          <a:solidFill>
            <a:schemeClr val="bg1">
              <a:lumMod val="95000"/>
            </a:schemeClr>
          </a:solidFill>
          <a:ln w="31750" cap="sq">
            <a:solidFill>
              <a:schemeClr val="bg2">
                <a:lumMod val="75000"/>
              </a:schemeClr>
            </a:solidFill>
            <a:miter lim="800000"/>
          </a:ln>
        </p:spPr>
        <p:txBody>
          <a:bodyPr vert="horz" lIns="182880" tIns="182880" rIns="182880" bIns="182880" rtlCol="0" anchor="ctr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800" kern="1200" cap="all" spc="200" baseline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Key Performance Indicators (KPIs)</a:t>
            </a:r>
            <a:endParaRPr lang="nb-NO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986241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96A4C0A-7CD6-52C8-5795-CE203917B8A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3570" y="1638803"/>
            <a:ext cx="10757555" cy="4941106"/>
          </a:xfrm>
        </p:spPr>
        <p:txBody>
          <a:bodyPr>
            <a:noAutofit/>
          </a:bodyPr>
          <a:lstStyle/>
          <a:p>
            <a:pPr algn="just">
              <a:lnSpc>
                <a:spcPct val="170000"/>
              </a:lnSpc>
            </a:pP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Increase Conversion Rates:</a:t>
            </a:r>
          </a:p>
          <a:p>
            <a:pPr lvl="1" algn="just">
              <a:lnSpc>
                <a:spcPct val="170000"/>
              </a:lnSpc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Goal: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Identify factors impacting the conversion rate and provide recommendations to improve it.</a:t>
            </a:r>
          </a:p>
          <a:p>
            <a:pPr lvl="1" algn="just">
              <a:lnSpc>
                <a:spcPct val="170000"/>
              </a:lnSpc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Insight: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Highlight key stages where visitors drop off and suggest improvements to optimize the conversion funnel.</a:t>
            </a:r>
          </a:p>
          <a:p>
            <a:pPr algn="just">
              <a:lnSpc>
                <a:spcPct val="170000"/>
              </a:lnSpc>
            </a:pP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Enhance Customer Engagement: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algn="just">
              <a:lnSpc>
                <a:spcPct val="170000"/>
              </a:lnSpc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Goal: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Determine which types of content drive the highest engagement. </a:t>
            </a:r>
          </a:p>
          <a:p>
            <a:pPr lvl="1" algn="just">
              <a:lnSpc>
                <a:spcPct val="170000"/>
              </a:lnSpc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Insight: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Analyze interaction levels with different types of marketing content to inform better content strategies.</a:t>
            </a:r>
          </a:p>
          <a:p>
            <a:pPr algn="just">
              <a:lnSpc>
                <a:spcPct val="170000"/>
              </a:lnSpc>
            </a:pP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Improve Customer Feedback Scores: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algn="just">
              <a:lnSpc>
                <a:spcPct val="170000"/>
              </a:lnSpc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Goal: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Understand common themes in customer reviews and provide actionable insights.</a:t>
            </a:r>
          </a:p>
          <a:p>
            <a:pPr lvl="1" algn="just">
              <a:lnSpc>
                <a:spcPct val="170000"/>
              </a:lnSpc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Insight: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Identify recurring positive and negative feedback to guide product and service improvements.</a:t>
            </a:r>
          </a:p>
        </p:txBody>
      </p:sp>
      <p:sp>
        <p:nvSpPr>
          <p:cNvPr id="5" name="Title 3">
            <a:extLst>
              <a:ext uri="{FF2B5EF4-FFF2-40B4-BE49-F238E27FC236}">
                <a16:creationId xmlns:a16="http://schemas.microsoft.com/office/drawing/2014/main" id="{C272D16A-DBB0-4D20-A375-DEEE2D83368C}"/>
              </a:ext>
            </a:extLst>
          </p:cNvPr>
          <p:cNvSpPr txBox="1">
            <a:spLocks/>
          </p:cNvSpPr>
          <p:nvPr/>
        </p:nvSpPr>
        <p:spPr bwMode="black">
          <a:xfrm>
            <a:off x="1910626" y="417938"/>
            <a:ext cx="8524847" cy="1080924"/>
          </a:xfrm>
          <a:prstGeom prst="rect">
            <a:avLst/>
          </a:prstGeom>
          <a:solidFill>
            <a:schemeClr val="bg1">
              <a:lumMod val="95000"/>
            </a:schemeClr>
          </a:solidFill>
          <a:ln w="31750" cap="sq">
            <a:solidFill>
              <a:schemeClr val="bg2">
                <a:lumMod val="75000"/>
              </a:schemeClr>
            </a:solidFill>
            <a:miter lim="800000"/>
          </a:ln>
        </p:spPr>
        <p:txBody>
          <a:bodyPr vert="horz" lIns="182880" tIns="182880" rIns="182880" bIns="182880" rtlCol="0" anchor="ctr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800" kern="1200" cap="all" spc="200" baseline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Goals</a:t>
            </a:r>
            <a:endParaRPr lang="nb-NO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66029343"/>
      </p:ext>
    </p:extLst>
  </p:cSld>
  <p:clrMapOvr>
    <a:masterClrMapping/>
  </p:clrMapOvr>
</p:sld>
</file>

<file path=ppt/theme/theme1.xml><?xml version="1.0" encoding="utf-8"?>
<a:theme xmlns:a="http://schemas.openxmlformats.org/drawingml/2006/main" name="Parcel">
  <a:themeElements>
    <a:clrScheme name="Custom 2">
      <a:dk1>
        <a:srgbClr val="000000"/>
      </a:dk1>
      <a:lt1>
        <a:srgbClr val="FFFFFF"/>
      </a:lt1>
      <a:dk2>
        <a:srgbClr val="635D4D"/>
      </a:dk2>
      <a:lt2>
        <a:srgbClr val="D8D6BA"/>
      </a:lt2>
      <a:accent1>
        <a:srgbClr val="9CBEBD"/>
      </a:accent1>
      <a:accent2>
        <a:srgbClr val="D2CB6C"/>
      </a:accent2>
      <a:accent3>
        <a:srgbClr val="9D9A93"/>
      </a:accent3>
      <a:accent4>
        <a:srgbClr val="E9D8BE"/>
      </a:accent4>
      <a:accent5>
        <a:srgbClr val="A9A57C"/>
      </a:accent5>
      <a:accent6>
        <a:srgbClr val="95A39D"/>
      </a:accent6>
      <a:hlink>
        <a:srgbClr val="D25814"/>
      </a:hlink>
      <a:folHlink>
        <a:srgbClr val="849A0A"/>
      </a:folHlink>
    </a:clrScheme>
    <a:fontScheme name="Parcel">
      <a:maj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Parcel">
      <a:fillStyleLst>
        <a:solidFill>
          <a:schemeClr val="phClr"/>
        </a:solidFill>
        <a:gradFill rotWithShape="1">
          <a:gsLst>
            <a:gs pos="0">
              <a:schemeClr val="phClr">
                <a:tint val="80000"/>
                <a:satMod val="107000"/>
                <a:lumMod val="103000"/>
              </a:schemeClr>
            </a:gs>
            <a:gs pos="100000">
              <a:schemeClr val="phClr">
                <a:tint val="82000"/>
                <a:satMod val="109000"/>
                <a:lumMod val="103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7000"/>
                <a:satMod val="100000"/>
                <a:lumMod val="102000"/>
              </a:schemeClr>
            </a:gs>
            <a:gs pos="50000">
              <a:schemeClr val="phClr">
                <a:shade val="100000"/>
                <a:satMod val="103000"/>
                <a:lumMod val="100000"/>
              </a:schemeClr>
            </a:gs>
            <a:gs pos="100000">
              <a:schemeClr val="phClr">
                <a:shade val="93000"/>
                <a:satMod val="110000"/>
                <a:lumMod val="99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317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5880" dist="1524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brightRoom" dir="tl"/>
          </a:scene3d>
          <a:sp3d prstMaterial="dkEdge">
            <a:bevelT w="0" h="0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7000"/>
                <a:shade val="100000"/>
                <a:satMod val="185000"/>
                <a:lumMod val="120000"/>
              </a:schemeClr>
            </a:gs>
            <a:gs pos="100000">
              <a:schemeClr val="phClr">
                <a:tint val="96000"/>
                <a:shade val="95000"/>
                <a:satMod val="215000"/>
                <a:lumMod val="80000"/>
              </a:schemeClr>
            </a:gs>
          </a:gsLst>
          <a:path path="circle">
            <a:fillToRect l="50000" t="55000" r="125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arcel" id="{8BEC4385-4EB9-4D53-BFB5-0EA123736B6D}" vid="{0BDC4BB7-8AF9-46FD-8C32-AB93AC9C4100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Slice</Template>
  <TotalTime>554</TotalTime>
  <Words>289</Words>
  <Application>Microsoft Office PowerPoint</Application>
  <PresentationFormat>Widescreen</PresentationFormat>
  <Paragraphs>23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8" baseType="lpstr">
      <vt:lpstr>Arial</vt:lpstr>
      <vt:lpstr>Gill Sans MT</vt:lpstr>
      <vt:lpstr>Times New Roman</vt:lpstr>
      <vt:lpstr>Parcel</vt:lpstr>
      <vt:lpstr>Marketing Analytics Business Case</vt:lpstr>
      <vt:lpstr>Introduction to Business Problem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Marketing Analytics Business Case</dc:title>
  <dc:creator>Ali Ahmad</dc:creator>
  <cp:lastModifiedBy>hp</cp:lastModifiedBy>
  <cp:revision>7</cp:revision>
  <dcterms:created xsi:type="dcterms:W3CDTF">2024-07-20T13:50:58Z</dcterms:created>
  <dcterms:modified xsi:type="dcterms:W3CDTF">2025-10-02T07:59:15Z</dcterms:modified>
</cp:coreProperties>
</file>