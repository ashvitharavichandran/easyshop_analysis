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85" d="100"/>
          <a:sy n="85" d="100"/>
        </p:scale>
        <p:origin x="83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0942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611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0590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74558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13548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9981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2949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2"/>
      </p:bgRef>
    </p:bg>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7281368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tx1">
              <a:lumMod val="8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764DE79-268F-4C1A-8933-263129D2AF90}" type="datetimeFigureOut">
              <a:rPr lang="en-US" smtClean="0"/>
              <a:t>10/2/2025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0692798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32897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84799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1354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chemeClr val="bg2">
              <a:lumMod val="60000"/>
              <a:lumOff val="40000"/>
              <a:alpha val="15000"/>
            </a:schemeClr>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764DE79-268F-4C1A-8933-263129D2AF90}" type="datetimeFigureOut">
              <a:rPr lang="en-US" smtClean="0"/>
              <a:t>10/2/2025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626445625"/>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a:xfrm>
            <a:off x="1803400" y="2396904"/>
            <a:ext cx="8991600" cy="1645920"/>
          </a:xfrm>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a:xfrm>
            <a:off x="2709037" y="4352544"/>
            <a:ext cx="7180326" cy="981456"/>
          </a:xfrm>
        </p:spPr>
        <p:txBody>
          <a:bodyPr>
            <a:normAutofit/>
          </a:bodyPr>
          <a:lstStyle/>
          <a:p>
            <a:r>
              <a:rPr lang="en-US" sz="2800" dirty="0"/>
              <a:t>Marketing Analytics Project</a:t>
            </a:r>
            <a:endParaRPr lang="nb-NO" sz="2800"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2231136" y="261600"/>
            <a:ext cx="7695184" cy="1008400"/>
          </a:xfrm>
        </p:spPr>
        <p:txBody>
          <a:bodyPr/>
          <a:lstStyle/>
          <a:p>
            <a:r>
              <a:rPr lang="nb-NO" dirty="0" err="1">
                <a:latin typeface="Times New Roman" panose="02020603050405020304" pitchFamily="18" charset="0"/>
                <a:cs typeface="Times New Roman" panose="02020603050405020304" pitchFamily="18" charset="0"/>
              </a:rPr>
              <a:t>Overview</a:t>
            </a:r>
            <a:endParaRPr lang="nb-NO"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326385" y="1534159"/>
            <a:ext cx="4220175" cy="4714241"/>
          </a:xfrm>
        </p:spPr>
        <p:txBody>
          <a:bodyPr>
            <a:noAutofit/>
          </a:bodyPr>
          <a:lstStyle/>
          <a:p>
            <a:pPr algn="just">
              <a:lnSpc>
                <a:spcPct val="150000"/>
              </a:lnSpc>
            </a:pPr>
            <a:r>
              <a:rPr lang="en-US" sz="1150" b="1" dirty="0">
                <a:latin typeface="Times New Roman" panose="02020603050405020304" pitchFamily="18" charset="0"/>
                <a:cs typeface="Times New Roman" panose="02020603050405020304" pitchFamily="18" charset="0"/>
              </a:rPr>
              <a:t>Decreased Conversion Rates: </a:t>
            </a:r>
            <a:r>
              <a:rPr lang="en-US" sz="1150" dirty="0">
                <a:latin typeface="Times New Roman" panose="02020603050405020304" pitchFamily="18" charset="0"/>
                <a:cs typeface="Times New Roman" panose="02020603050405020304" pitchFamily="18" charset="0"/>
              </a:rPr>
              <a:t>The conversion rate demonstrated a strong rebound in December, reaching 10.34%, despite a notable dip to 5.08% in October.</a:t>
            </a:r>
          </a:p>
          <a:p>
            <a:pPr algn="just">
              <a:lnSpc>
                <a:spcPct val="150000"/>
              </a:lnSpc>
            </a:pPr>
            <a:r>
              <a:rPr lang="en-US" sz="1150" b="1" dirty="0">
                <a:latin typeface="Times New Roman" panose="02020603050405020304" pitchFamily="18" charset="0"/>
                <a:cs typeface="Times New Roman" panose="02020603050405020304" pitchFamily="18" charset="0"/>
              </a:rPr>
              <a:t>Reduced Customer Engagement:</a:t>
            </a:r>
          </a:p>
          <a:p>
            <a:pPr lvl="1" algn="just">
              <a:lnSpc>
                <a:spcPct val="150000"/>
              </a:lnSpc>
            </a:pPr>
            <a:r>
              <a:rPr lang="en-US" sz="1150" dirty="0">
                <a:latin typeface="Times New Roman" panose="02020603050405020304" pitchFamily="18" charset="0"/>
                <a:cs typeface="Times New Roman" panose="02020603050405020304" pitchFamily="18" charset="0"/>
              </a:rPr>
              <a:t>There is a decline in overall social media engagement, with views dropping throughout the year.</a:t>
            </a:r>
          </a:p>
          <a:p>
            <a:pPr lvl="1" algn="just">
              <a:lnSpc>
                <a:spcPct val="150000"/>
              </a:lnSpc>
            </a:pPr>
            <a:r>
              <a:rPr lang="en-US" sz="1150" dirty="0">
                <a:latin typeface="Times New Roman" panose="02020603050405020304" pitchFamily="18" charset="0"/>
                <a:cs typeface="Times New Roman" panose="02020603050405020304" pitchFamily="18" charset="0"/>
              </a:rPr>
              <a:t>While clicks and likes are low compared to views, the click-through rate stands at 15.37%, meaning that engaged users are still interacting effectively.</a:t>
            </a:r>
          </a:p>
          <a:p>
            <a:pPr algn="just">
              <a:lnSpc>
                <a:spcPct val="150000"/>
              </a:lnSpc>
            </a:pPr>
            <a:r>
              <a:rPr lang="en-US" sz="1150" b="1" dirty="0">
                <a:latin typeface="Times New Roman" panose="02020603050405020304" pitchFamily="18" charset="0"/>
                <a:cs typeface="Times New Roman" panose="02020603050405020304" pitchFamily="18" charset="0"/>
              </a:rPr>
              <a:t>Customer Feedback Analysis:</a:t>
            </a:r>
          </a:p>
          <a:p>
            <a:pPr lvl="1" algn="just">
              <a:lnSpc>
                <a:spcPct val="150000"/>
              </a:lnSpc>
            </a:pPr>
            <a:r>
              <a:rPr lang="en-US" sz="1150" dirty="0">
                <a:latin typeface="Times New Roman" panose="02020603050405020304" pitchFamily="18" charset="0"/>
                <a:cs typeface="Times New Roman" panose="02020603050405020304" pitchFamily="18" charset="0"/>
              </a:rPr>
              <a:t>Customer ratings have remained consistent, averaging around 3.7 throughout the year.</a:t>
            </a:r>
          </a:p>
          <a:p>
            <a:pPr lvl="1" algn="just">
              <a:lnSpc>
                <a:spcPct val="150000"/>
              </a:lnSpc>
            </a:pPr>
            <a:r>
              <a:rPr lang="en-US" sz="1150" dirty="0">
                <a:latin typeface="Times New Roman" panose="02020603050405020304" pitchFamily="18" charset="0"/>
                <a:cs typeface="Times New Roman" panose="02020603050405020304" pitchFamily="18" charset="0"/>
              </a:rPr>
              <a:t>Although stable, the average rating is below the target of 4.0, suggesting a need for focused improvements in customer satisfaction, for products below 3.5.</a:t>
            </a:r>
            <a:endParaRPr lang="nb-NO" sz="1150"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384BF740-5619-4F55-9A3F-A093E01832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4819" y="1534160"/>
            <a:ext cx="7383760" cy="4848712"/>
          </a:xfrm>
          <a:prstGeom prst="rect">
            <a:avLst/>
          </a:prstGeom>
        </p:spPr>
      </p:pic>
      <p:cxnSp>
        <p:nvCxnSpPr>
          <p:cNvPr id="23" name="Straight Arrow Connector 22">
            <a:extLst>
              <a:ext uri="{FF2B5EF4-FFF2-40B4-BE49-F238E27FC236}">
                <a16:creationId xmlns:a16="http://schemas.microsoft.com/office/drawing/2014/main" id="{644DB4A9-ED18-4D84-8AB7-E8DA58B638B4}"/>
              </a:ext>
            </a:extLst>
          </p:cNvPr>
          <p:cNvCxnSpPr>
            <a:cxnSpLocks/>
          </p:cNvCxnSpPr>
          <p:nvPr/>
        </p:nvCxnSpPr>
        <p:spPr>
          <a:xfrm>
            <a:off x="10736579" y="3655069"/>
            <a:ext cx="1129035" cy="2311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Oval 23">
            <a:extLst>
              <a:ext uri="{FF2B5EF4-FFF2-40B4-BE49-F238E27FC236}">
                <a16:creationId xmlns:a16="http://schemas.microsoft.com/office/drawing/2014/main" id="{6440FF12-C14B-4AA1-A21E-A09DE47104A3}"/>
              </a:ext>
            </a:extLst>
          </p:cNvPr>
          <p:cNvSpPr/>
          <p:nvPr/>
        </p:nvSpPr>
        <p:spPr>
          <a:xfrm>
            <a:off x="8550273" y="2025678"/>
            <a:ext cx="1173480" cy="112776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Rectangle 24">
            <a:extLst>
              <a:ext uri="{FF2B5EF4-FFF2-40B4-BE49-F238E27FC236}">
                <a16:creationId xmlns:a16="http://schemas.microsoft.com/office/drawing/2014/main" id="{2BC0500D-74A0-4AEC-8610-C9967E374339}"/>
              </a:ext>
            </a:extLst>
          </p:cNvPr>
          <p:cNvSpPr/>
          <p:nvPr/>
        </p:nvSpPr>
        <p:spPr>
          <a:xfrm>
            <a:off x="7901940" y="5335248"/>
            <a:ext cx="1440180" cy="91315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Rectangle 26">
            <a:extLst>
              <a:ext uri="{FF2B5EF4-FFF2-40B4-BE49-F238E27FC236}">
                <a16:creationId xmlns:a16="http://schemas.microsoft.com/office/drawing/2014/main" id="{174DE34B-E58B-448C-B49B-314AFB196C56}"/>
              </a:ext>
            </a:extLst>
          </p:cNvPr>
          <p:cNvSpPr/>
          <p:nvPr/>
        </p:nvSpPr>
        <p:spPr>
          <a:xfrm>
            <a:off x="7945388" y="3583127"/>
            <a:ext cx="1353283" cy="8417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a:xfrm>
            <a:off x="2231136" y="541594"/>
            <a:ext cx="7729728" cy="837626"/>
          </a:xfrm>
        </p:spPr>
        <p:txBody>
          <a:bodyPr/>
          <a:lstStyle/>
          <a:p>
            <a:r>
              <a:rPr lang="nb-NO" dirty="0" err="1">
                <a:latin typeface="Times New Roman" panose="02020603050405020304" pitchFamily="18" charset="0"/>
                <a:cs typeface="Times New Roman" panose="02020603050405020304" pitchFamily="18" charset="0"/>
              </a:rPr>
              <a:t>Decreased</a:t>
            </a:r>
            <a:r>
              <a:rPr lang="nb-NO" dirty="0">
                <a:latin typeface="Times New Roman" panose="02020603050405020304" pitchFamily="18" charset="0"/>
                <a:cs typeface="Times New Roman" panose="02020603050405020304" pitchFamily="18" charset="0"/>
              </a:rPr>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651398" y="1423856"/>
            <a:ext cx="5740437" cy="4708003"/>
          </a:xfrm>
        </p:spPr>
        <p:txBody>
          <a:bodyPr>
            <a:noAutofit/>
          </a:bodyPr>
          <a:lstStyle/>
          <a:p>
            <a:pPr algn="just">
              <a:lnSpc>
                <a:spcPct val="170000"/>
              </a:lnSpc>
            </a:pPr>
            <a:r>
              <a:rPr lang="en-US" sz="1200" b="1" dirty="0">
                <a:latin typeface="Times New Roman" panose="02020603050405020304" pitchFamily="18" charset="0"/>
                <a:cs typeface="Times New Roman" panose="02020603050405020304" pitchFamily="18" charset="0"/>
              </a:rPr>
              <a:t>General Conversion Trend:</a:t>
            </a:r>
          </a:p>
          <a:p>
            <a:pPr lvl="1" algn="just">
              <a:lnSpc>
                <a:spcPct val="170000"/>
              </a:lnSpc>
            </a:pPr>
            <a:r>
              <a:rPr lang="en-US" sz="1200" dirty="0">
                <a:latin typeface="Times New Roman" panose="02020603050405020304" pitchFamily="18" charset="0"/>
                <a:cs typeface="Times New Roman" panose="02020603050405020304" pitchFamily="18" charset="0"/>
              </a:rPr>
              <a:t>Throughout the year, conversion rates varied, with higher numbers of products converting successfully in months like July and September. This suggests that while some products had strong seasonal peaks, there is potential to improve conversions in lower-performing months through targeted interventions.</a:t>
            </a:r>
          </a:p>
          <a:p>
            <a:pPr algn="just">
              <a:lnSpc>
                <a:spcPct val="170000"/>
              </a:lnSpc>
            </a:pPr>
            <a:r>
              <a:rPr lang="en-US" sz="1200" b="1" dirty="0">
                <a:latin typeface="Times New Roman" panose="02020603050405020304" pitchFamily="18" charset="0"/>
                <a:cs typeface="Times New Roman" panose="02020603050405020304" pitchFamily="18" charset="0"/>
              </a:rPr>
              <a:t>Lowest Conversion Month:</a:t>
            </a:r>
          </a:p>
          <a:p>
            <a:pPr lvl="1" algn="just">
              <a:lnSpc>
                <a:spcPct val="170000"/>
              </a:lnSpc>
            </a:pPr>
            <a:r>
              <a:rPr lang="en-US" sz="1200" dirty="0">
                <a:latin typeface="Times New Roman" panose="02020603050405020304" pitchFamily="18" charset="0"/>
                <a:cs typeface="Times New Roman" panose="02020603050405020304" pitchFamily="18" charset="0"/>
              </a:rPr>
              <a:t>May experienced the lowest overall conversion rate at 4.5%, with no products standing out significantly in terms of conversion. This indicates a potential need to revisit marketing strategies or promotions during this period to boost performance.</a:t>
            </a:r>
          </a:p>
          <a:p>
            <a:pPr algn="just">
              <a:lnSpc>
                <a:spcPct val="170000"/>
              </a:lnSpc>
            </a:pPr>
            <a:r>
              <a:rPr lang="en-US" sz="1200" b="1" dirty="0">
                <a:latin typeface="Times New Roman" panose="02020603050405020304" pitchFamily="18" charset="0"/>
                <a:cs typeface="Times New Roman" panose="02020603050405020304" pitchFamily="18" charset="0"/>
              </a:rPr>
              <a:t>Highest Conversion Rates:</a:t>
            </a:r>
          </a:p>
          <a:p>
            <a:pPr lvl="1" algn="just">
              <a:lnSpc>
                <a:spcPct val="170000"/>
              </a:lnSpc>
            </a:pPr>
            <a:r>
              <a:rPr lang="en-US" sz="1200" dirty="0">
                <a:latin typeface="Times New Roman" panose="02020603050405020304" pitchFamily="18" charset="0"/>
                <a:cs typeface="Times New Roman" panose="02020603050405020304" pitchFamily="18" charset="0"/>
              </a:rPr>
              <a:t>January recorded the highest overall conversion rate at 19.6%, driven significantly by the Ski Boots with a remarkable 150% conversion. This indicates a strong start to the year, likely fueled by seasonal demand and effective marketing strategies.</a:t>
            </a:r>
          </a:p>
        </p:txBody>
      </p:sp>
      <p:pic>
        <p:nvPicPr>
          <p:cNvPr id="14" name="Picture 13">
            <a:extLst>
              <a:ext uri="{FF2B5EF4-FFF2-40B4-BE49-F238E27FC236}">
                <a16:creationId xmlns:a16="http://schemas.microsoft.com/office/drawing/2014/main" id="{B66D25C7-9001-4302-935D-413642A82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1162" y="2247080"/>
            <a:ext cx="5537118" cy="3346895"/>
          </a:xfrm>
          <a:prstGeom prst="rect">
            <a:avLst/>
          </a:prstGeom>
        </p:spPr>
      </p:pic>
      <p:sp>
        <p:nvSpPr>
          <p:cNvPr id="15" name="Rectangle 14">
            <a:extLst>
              <a:ext uri="{FF2B5EF4-FFF2-40B4-BE49-F238E27FC236}">
                <a16:creationId xmlns:a16="http://schemas.microsoft.com/office/drawing/2014/main" id="{7C76406E-64F4-4A8D-9BBF-9397F031D6BB}"/>
              </a:ext>
            </a:extLst>
          </p:cNvPr>
          <p:cNvSpPr/>
          <p:nvPr/>
        </p:nvSpPr>
        <p:spPr>
          <a:xfrm>
            <a:off x="8061960" y="2247080"/>
            <a:ext cx="375358" cy="3346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Rectangle 15">
            <a:extLst>
              <a:ext uri="{FF2B5EF4-FFF2-40B4-BE49-F238E27FC236}">
                <a16:creationId xmlns:a16="http://schemas.microsoft.com/office/drawing/2014/main" id="{DEA9D443-E1B4-464F-8BAA-260B3BE07B91}"/>
              </a:ext>
            </a:extLst>
          </p:cNvPr>
          <p:cNvSpPr/>
          <p:nvPr/>
        </p:nvSpPr>
        <p:spPr>
          <a:xfrm>
            <a:off x="7261411" y="2247080"/>
            <a:ext cx="489399" cy="3334497"/>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a:xfrm>
            <a:off x="2209516" y="314007"/>
            <a:ext cx="7439634" cy="901576"/>
          </a:xfrm>
        </p:spPr>
        <p:txBody>
          <a:bodyPr>
            <a:normAutofit/>
          </a:bodyPr>
          <a:lstStyle/>
          <a:p>
            <a:r>
              <a:rPr lang="en-US" dirty="0">
                <a:latin typeface="Times New Roman" panose="02020603050405020304" pitchFamily="18" charset="0"/>
                <a:cs typeface="Times New Roman" panose="02020603050405020304" pitchFamily="18" charset="0"/>
              </a:rPr>
              <a:t>Reduced Customer Engagement</a:t>
            </a:r>
            <a:endParaRPr lang="nb-NO"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a:xfrm>
            <a:off x="690283" y="1646082"/>
            <a:ext cx="5871883" cy="4785360"/>
          </a:xfrm>
        </p:spPr>
        <p:txBody>
          <a:bodyPr>
            <a:normAutofit/>
          </a:bodyPr>
          <a:lstStyle/>
          <a:p>
            <a:pPr algn="just">
              <a:lnSpc>
                <a:spcPct val="170000"/>
              </a:lnSpc>
            </a:pPr>
            <a:r>
              <a:rPr lang="en-US" sz="1300" b="1" dirty="0">
                <a:latin typeface="Times New Roman" panose="02020603050405020304" pitchFamily="18" charset="0"/>
                <a:cs typeface="Times New Roman" panose="02020603050405020304" pitchFamily="18" charset="0"/>
              </a:rPr>
              <a:t>Declining Views:</a:t>
            </a:r>
          </a:p>
          <a:p>
            <a:pPr lvl="1" algn="just">
              <a:lnSpc>
                <a:spcPct val="170000"/>
              </a:lnSpc>
            </a:pPr>
            <a:r>
              <a:rPr lang="en-US" sz="1300" dirty="0">
                <a:latin typeface="Times New Roman" panose="02020603050405020304" pitchFamily="18" charset="0"/>
                <a:cs typeface="Times New Roman" panose="02020603050405020304" pitchFamily="18" charset="0"/>
              </a:rPr>
              <a:t>Views peaked in February and May but declined from August and on, indicating reduced audience engagement in the later half of the year.</a:t>
            </a:r>
          </a:p>
          <a:p>
            <a:pPr algn="just">
              <a:lnSpc>
                <a:spcPct val="170000"/>
              </a:lnSpc>
            </a:pPr>
            <a:r>
              <a:rPr lang="en-US" sz="1300" b="1" dirty="0">
                <a:latin typeface="Times New Roman" panose="02020603050405020304" pitchFamily="18" charset="0"/>
                <a:cs typeface="Times New Roman" panose="02020603050405020304" pitchFamily="18" charset="0"/>
              </a:rPr>
              <a:t>Low Interaction Rates:</a:t>
            </a:r>
          </a:p>
          <a:p>
            <a:pPr lvl="1" algn="just">
              <a:lnSpc>
                <a:spcPct val="170000"/>
              </a:lnSpc>
            </a:pPr>
            <a:r>
              <a:rPr lang="en-US" sz="1300" dirty="0">
                <a:latin typeface="Times New Roman" panose="02020603050405020304" pitchFamily="18" charset="0"/>
                <a:cs typeface="Times New Roman" panose="02020603050405020304" pitchFamily="18" charset="0"/>
              </a:rPr>
              <a:t>Clicks and likes remained consistently low compared to views, suggesting the need for more engaging content or stronger calls to action.</a:t>
            </a:r>
          </a:p>
          <a:p>
            <a:pPr algn="just">
              <a:lnSpc>
                <a:spcPct val="170000"/>
              </a:lnSpc>
            </a:pPr>
            <a:r>
              <a:rPr lang="en-US" sz="1300" b="1" dirty="0">
                <a:latin typeface="Times New Roman" panose="02020603050405020304" pitchFamily="18" charset="0"/>
                <a:cs typeface="Times New Roman" panose="02020603050405020304" pitchFamily="18" charset="0"/>
              </a:rPr>
              <a:t>Content Type Performance:</a:t>
            </a:r>
          </a:p>
          <a:p>
            <a:pPr lvl="1" algn="just">
              <a:lnSpc>
                <a:spcPct val="170000"/>
              </a:lnSpc>
            </a:pPr>
            <a:r>
              <a:rPr lang="en-US" sz="1300" dirty="0">
                <a:latin typeface="Times New Roman" panose="02020603050405020304" pitchFamily="18" charset="0"/>
                <a:cs typeface="Times New Roman" panose="02020603050405020304" pitchFamily="18" charset="0"/>
              </a:rPr>
              <a:t>Blog content drove the most views, especially in March and May, while social media and video content maintained steady but slightly lower engagement.</a:t>
            </a:r>
            <a:endParaRPr lang="nb-NO" sz="13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4CEFE3-394A-4870-B4B3-289F7D7584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0384" y="1646082"/>
            <a:ext cx="4196272" cy="2276793"/>
          </a:xfrm>
          <a:prstGeom prst="rect">
            <a:avLst/>
          </a:prstGeom>
        </p:spPr>
      </p:pic>
      <p:cxnSp>
        <p:nvCxnSpPr>
          <p:cNvPr id="10" name="Straight Arrow Connector 9">
            <a:extLst>
              <a:ext uri="{FF2B5EF4-FFF2-40B4-BE49-F238E27FC236}">
                <a16:creationId xmlns:a16="http://schemas.microsoft.com/office/drawing/2014/main" id="{F085CB60-E5AF-4118-91C1-E1A96A1F089D}"/>
              </a:ext>
            </a:extLst>
          </p:cNvPr>
          <p:cNvCxnSpPr>
            <a:cxnSpLocks/>
          </p:cNvCxnSpPr>
          <p:nvPr/>
        </p:nvCxnSpPr>
        <p:spPr>
          <a:xfrm>
            <a:off x="8823408" y="2213467"/>
            <a:ext cx="1651484" cy="377333"/>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Picture 10">
            <a:extLst>
              <a:ext uri="{FF2B5EF4-FFF2-40B4-BE49-F238E27FC236}">
                <a16:creationId xmlns:a16="http://schemas.microsoft.com/office/drawing/2014/main" id="{43AA2989-055D-437D-A08A-89E6DFEA44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5545" y="4135443"/>
            <a:ext cx="4201111" cy="2152950"/>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a:xfrm>
            <a:off x="2048256" y="438703"/>
            <a:ext cx="7729728" cy="772668"/>
          </a:xfrm>
        </p:spPr>
        <p:txBody>
          <a:bodyPr>
            <a:normAutofit/>
          </a:bodyPr>
          <a:lstStyle/>
          <a:p>
            <a:r>
              <a:rPr lang="nb-NO" dirty="0" err="1">
                <a:latin typeface="Times New Roman" panose="02020603050405020304" pitchFamily="18" charset="0"/>
                <a:cs typeface="Times New Roman" panose="02020603050405020304" pitchFamily="18" charset="0"/>
              </a:rPr>
              <a:t>Customer</a:t>
            </a:r>
            <a:r>
              <a:rPr lang="nb-NO" dirty="0">
                <a:latin typeface="Times New Roman" panose="02020603050405020304" pitchFamily="18" charset="0"/>
                <a:cs typeface="Times New Roman" panose="02020603050405020304" pitchFamily="18" charset="0"/>
              </a:rPr>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670560" y="1624461"/>
            <a:ext cx="6364206" cy="4853940"/>
          </a:xfrm>
        </p:spPr>
        <p:txBody>
          <a:bodyPr>
            <a:noAutofit/>
          </a:bodyPr>
          <a:lstStyle/>
          <a:p>
            <a:pPr algn="just">
              <a:lnSpc>
                <a:spcPct val="170000"/>
              </a:lnSpc>
            </a:pPr>
            <a:r>
              <a:rPr lang="en-US" sz="1100" b="1" dirty="0">
                <a:latin typeface="Times New Roman" panose="02020603050405020304" pitchFamily="18" charset="0"/>
                <a:cs typeface="Times New Roman" panose="02020603050405020304" pitchFamily="18" charset="0"/>
              </a:rPr>
              <a:t>Customer Ratings Distribution:</a:t>
            </a:r>
          </a:p>
          <a:p>
            <a:pPr lvl="1" algn="just">
              <a:lnSpc>
                <a:spcPct val="170000"/>
              </a:lnSpc>
            </a:pPr>
            <a:r>
              <a:rPr lang="en-US" sz="1100" dirty="0">
                <a:latin typeface="Times New Roman" panose="02020603050405020304" pitchFamily="18" charset="0"/>
                <a:cs typeface="Times New Roman" panose="02020603050405020304" pitchFamily="18" charset="0"/>
              </a:rPr>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gn="just">
              <a:lnSpc>
                <a:spcPct val="170000"/>
              </a:lnSpc>
            </a:pPr>
            <a:r>
              <a:rPr lang="en-US" sz="1100" b="1" dirty="0">
                <a:latin typeface="Times New Roman" panose="02020603050405020304" pitchFamily="18" charset="0"/>
                <a:cs typeface="Times New Roman" panose="02020603050405020304" pitchFamily="18" charset="0"/>
              </a:rPr>
              <a:t>Sentiment Analysis:</a:t>
            </a:r>
          </a:p>
          <a:p>
            <a:pPr lvl="1" algn="just">
              <a:lnSpc>
                <a:spcPct val="170000"/>
              </a:lnSpc>
            </a:pPr>
            <a:r>
              <a:rPr lang="en-US" sz="1100" dirty="0">
                <a:latin typeface="Times New Roman" panose="02020603050405020304" pitchFamily="18" charset="0"/>
                <a:cs typeface="Times New Roman" panose="02020603050405020304" pitchFamily="18" charset="0"/>
              </a:rPr>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gn="just">
              <a:lnSpc>
                <a:spcPct val="170000"/>
              </a:lnSpc>
            </a:pPr>
            <a:r>
              <a:rPr lang="en-US" sz="1100" b="1" dirty="0">
                <a:latin typeface="Times New Roman" panose="02020603050405020304" pitchFamily="18" charset="0"/>
                <a:cs typeface="Times New Roman" panose="02020603050405020304" pitchFamily="18" charset="0"/>
              </a:rPr>
              <a:t>Opportunity for Improvement:</a:t>
            </a:r>
          </a:p>
          <a:p>
            <a:pPr lvl="1" algn="just">
              <a:lnSpc>
                <a:spcPct val="170000"/>
              </a:lnSpc>
            </a:pPr>
            <a:r>
              <a:rPr lang="en-US" sz="1100" dirty="0">
                <a:latin typeface="Times New Roman" panose="02020603050405020304" pitchFamily="18" charset="0"/>
                <a:cs typeface="Times New Roman" panose="02020603050405020304" pitchFamily="18" charset="0"/>
              </a:rPr>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sz="11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4291471D-A958-47D3-B63D-E987F2406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5680" y="1860375"/>
            <a:ext cx="3962958" cy="2150827"/>
          </a:xfrm>
          <a:prstGeom prst="rect">
            <a:avLst/>
          </a:prstGeom>
        </p:spPr>
      </p:pic>
      <p:pic>
        <p:nvPicPr>
          <p:cNvPr id="21" name="Picture 20">
            <a:extLst>
              <a:ext uri="{FF2B5EF4-FFF2-40B4-BE49-F238E27FC236}">
                <a16:creationId xmlns:a16="http://schemas.microsoft.com/office/drawing/2014/main" id="{2AA2A629-26FE-43F1-B7FD-DE786D957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7580" y="4132978"/>
            <a:ext cx="4001058" cy="2286319"/>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2102326" y="296863"/>
            <a:ext cx="7987348" cy="743044"/>
          </a:xfrm>
        </p:spPr>
        <p:txBody>
          <a:bodyPr>
            <a:noAutofit/>
          </a:bodyPr>
          <a:lstStyle/>
          <a:p>
            <a:r>
              <a:rPr lang="en-US" dirty="0">
                <a:latin typeface="Times New Roman" panose="02020603050405020304" pitchFamily="18" charset="0"/>
                <a:cs typeface="Times New Roman" panose="02020603050405020304" pitchFamily="18" charset="0"/>
              </a:rPr>
              <a:t>Goals AND </a:t>
            </a:r>
            <a:r>
              <a:rPr lang="nb-NO" dirty="0">
                <a:latin typeface="Times New Roman" panose="02020603050405020304" pitchFamily="18" charset="0"/>
                <a:cs typeface="Times New Roman" panose="02020603050405020304" pitchFamily="18" charset="0"/>
              </a:rPr>
              <a:t>Actions</a:t>
            </a:r>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half" idx="2"/>
          </p:nvPr>
        </p:nvSpPr>
        <p:spPr>
          <a:xfrm>
            <a:off x="5970493" y="1223711"/>
            <a:ext cx="6067177" cy="7526750"/>
          </a:xfrm>
        </p:spPr>
        <p:txBody>
          <a:bodyPr>
            <a:noAutofit/>
          </a:bodyPr>
          <a:lstStyle/>
          <a:p>
            <a:pPr marL="0" indent="0" algn="just">
              <a:lnSpc>
                <a:spcPct val="120000"/>
              </a:lnSpc>
              <a:buNone/>
            </a:pPr>
            <a:r>
              <a:rPr lang="en-US" b="1" u="sng" dirty="0">
                <a:latin typeface="Times New Roman" panose="02020603050405020304" pitchFamily="18" charset="0"/>
                <a:cs typeface="Times New Roman" panose="02020603050405020304" pitchFamily="18" charset="0"/>
              </a:rPr>
              <a:t>Actions</a:t>
            </a:r>
            <a:endParaRPr lang="nb-NO" b="1" u="sng" dirty="0">
              <a:latin typeface="Times New Roman" panose="02020603050405020304" pitchFamily="18" charset="0"/>
              <a:cs typeface="Times New Roman" panose="02020603050405020304" pitchFamily="18" charset="0"/>
            </a:endParaRPr>
          </a:p>
          <a:p>
            <a:pPr marL="0" indent="0" algn="just">
              <a:lnSpc>
                <a:spcPct val="120000"/>
              </a:lnSpc>
              <a:buNone/>
            </a:pPr>
            <a:r>
              <a:rPr lang="nb-NO" sz="1200" b="1" dirty="0">
                <a:latin typeface="Times New Roman" panose="02020603050405020304" pitchFamily="18" charset="0"/>
                <a:cs typeface="Times New Roman" panose="02020603050405020304" pitchFamily="18" charset="0"/>
              </a:rPr>
              <a:t>1.</a:t>
            </a:r>
            <a:r>
              <a:rPr lang="nb-NO" sz="1200" b="1" u="sng" dirty="0">
                <a:latin typeface="Times New Roman" panose="02020603050405020304" pitchFamily="18" charset="0"/>
                <a:cs typeface="Times New Roman" panose="02020603050405020304" pitchFamily="18" charset="0"/>
              </a:rPr>
              <a:t>Increase Conversion Rates:</a:t>
            </a:r>
          </a:p>
          <a:p>
            <a:pPr lvl="1" algn="just">
              <a:lnSpc>
                <a:spcPct val="120000"/>
              </a:lnSpc>
            </a:pPr>
            <a:r>
              <a:rPr lang="en-US" sz="1200" dirty="0">
                <a:latin typeface="Times New Roman" panose="02020603050405020304" pitchFamily="18" charset="0"/>
                <a:cs typeface="Times New Roman" panose="02020603050405020304" pitchFamily="18" charset="0"/>
              </a:rPr>
              <a:t>Marketing initiatives should prioritize high-performing product categories, specifically  Ski Boots, Kayaks, and Volleyball, which have demonstrated consistently elevated conversion rates. To optimize outcomes, seasonal peaks should be strategically leveraged by implementing targeted promotions and personalized campaigns during high-conversion months such as January, March, and September.</a:t>
            </a:r>
            <a:endParaRPr lang="nb-NO" sz="1200" dirty="0">
              <a:latin typeface="Times New Roman" panose="02020603050405020304" pitchFamily="18" charset="0"/>
              <a:cs typeface="Times New Roman" panose="02020603050405020304" pitchFamily="18" charset="0"/>
            </a:endParaRPr>
          </a:p>
          <a:p>
            <a:pPr marL="0" indent="0" algn="just">
              <a:lnSpc>
                <a:spcPct val="120000"/>
              </a:lnSpc>
              <a:buNone/>
            </a:pPr>
            <a:r>
              <a:rPr lang="nb-NO" sz="1200" b="1" dirty="0">
                <a:latin typeface="Times New Roman" panose="02020603050405020304" pitchFamily="18" charset="0"/>
                <a:cs typeface="Times New Roman" panose="02020603050405020304" pitchFamily="18" charset="0"/>
              </a:rPr>
              <a:t>2.</a:t>
            </a:r>
            <a:r>
              <a:rPr lang="nb-NO" sz="1200" b="1" u="sng" dirty="0">
                <a:latin typeface="Times New Roman" panose="02020603050405020304" pitchFamily="18" charset="0"/>
                <a:cs typeface="Times New Roman" panose="02020603050405020304" pitchFamily="18" charset="0"/>
              </a:rPr>
              <a:t>Enhance Customer Engagement:</a:t>
            </a:r>
          </a:p>
          <a:p>
            <a:pPr lvl="1" algn="just">
              <a:lnSpc>
                <a:spcPct val="120000"/>
              </a:lnSpc>
            </a:pPr>
            <a:r>
              <a:rPr lang="en-US" sz="1200" dirty="0">
                <a:latin typeface="Times New Roman" panose="02020603050405020304" pitchFamily="18" charset="0"/>
                <a:cs typeface="Times New Roman" panose="02020603050405020304" pitchFamily="18" charset="0"/>
              </a:rPr>
              <a:t>Revitalize the content strategy to address declining views and reduced interaction rates by incorporating more engaging formats, such as interactive videos and user-generated content. Furthermore, enhance audience engagement by strategically optimizing call-to-action placements across social media and blog channels, with particular emphasis during historically lower-engagement periods from September through December.</a:t>
            </a:r>
            <a:endParaRPr lang="nb-NO" sz="1200" dirty="0">
              <a:latin typeface="Times New Roman" panose="02020603050405020304" pitchFamily="18" charset="0"/>
              <a:cs typeface="Times New Roman" panose="02020603050405020304" pitchFamily="18" charset="0"/>
            </a:endParaRPr>
          </a:p>
          <a:p>
            <a:pPr marL="0" indent="0" algn="just">
              <a:lnSpc>
                <a:spcPct val="120000"/>
              </a:lnSpc>
              <a:buNone/>
            </a:pPr>
            <a:r>
              <a:rPr lang="nb-NO" sz="1200" b="1" dirty="0">
                <a:latin typeface="Times New Roman" panose="02020603050405020304" pitchFamily="18" charset="0"/>
                <a:cs typeface="Times New Roman" panose="02020603050405020304" pitchFamily="18" charset="0"/>
              </a:rPr>
              <a:t>3. </a:t>
            </a:r>
            <a:r>
              <a:rPr lang="nb-NO" sz="1200" b="1" u="sng" dirty="0">
                <a:latin typeface="Times New Roman" panose="02020603050405020304" pitchFamily="18" charset="0"/>
                <a:cs typeface="Times New Roman" panose="02020603050405020304" pitchFamily="18" charset="0"/>
              </a:rPr>
              <a:t>Improve Customer Feedback Scores:</a:t>
            </a:r>
          </a:p>
          <a:p>
            <a:pPr lvl="1" algn="just">
              <a:lnSpc>
                <a:spcPct val="120000"/>
              </a:lnSpc>
            </a:pPr>
            <a:r>
              <a:rPr lang="en-US" sz="1200" dirty="0">
                <a:latin typeface="Times New Roman" panose="02020603050405020304" pitchFamily="18" charset="0"/>
                <a:cs typeface="Times New Roman" panose="02020603050405020304" pitchFamily="18" charset="0"/>
              </a:rPr>
              <a:t>Improve Customer Feedback Scores by systematically addressing mixed and negative reviews through the implementation of a structured feedback loop. This process should involve analyzing recurring issues, developing targeted improvement plans, and actively engaging with dissatisfied customers to resolve concerns. Follow-up initiatives may further encourage re-rating, thereby supporting progress toward achieving the target average rating of 4.0.</a:t>
            </a:r>
            <a:endParaRPr lang="nb-NO" sz="1200" dirty="0">
              <a:latin typeface="Times New Roman" panose="02020603050405020304" pitchFamily="18" charset="0"/>
              <a:cs typeface="Times New Roman" panose="02020603050405020304" pitchFamily="18" charset="0"/>
            </a:endParaRPr>
          </a:p>
        </p:txBody>
      </p:sp>
      <p:sp>
        <p:nvSpPr>
          <p:cNvPr id="4" name="Content Placeholder 4">
            <a:extLst>
              <a:ext uri="{FF2B5EF4-FFF2-40B4-BE49-F238E27FC236}">
                <a16:creationId xmlns:a16="http://schemas.microsoft.com/office/drawing/2014/main" id="{E3DDB8DD-0872-481A-8238-29ADE2B9EC6D}"/>
              </a:ext>
            </a:extLst>
          </p:cNvPr>
          <p:cNvSpPr txBox="1">
            <a:spLocks/>
          </p:cNvSpPr>
          <p:nvPr/>
        </p:nvSpPr>
        <p:spPr>
          <a:xfrm>
            <a:off x="246926" y="1223711"/>
            <a:ext cx="5563565" cy="524250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just">
              <a:lnSpc>
                <a:spcPct val="150000"/>
              </a:lnSpc>
              <a:buNone/>
            </a:pPr>
            <a:r>
              <a:rPr lang="en-US" b="1" u="sng" dirty="0">
                <a:latin typeface="Times New Roman" panose="02020603050405020304" pitchFamily="18" charset="0"/>
                <a:cs typeface="Times New Roman" panose="02020603050405020304" pitchFamily="18" charset="0"/>
              </a:rPr>
              <a:t>Goals</a:t>
            </a:r>
          </a:p>
          <a:p>
            <a:pPr marL="0" indent="0" algn="just">
              <a:buNone/>
            </a:pPr>
            <a:r>
              <a:rPr lang="en-US" sz="1200" b="1" dirty="0">
                <a:latin typeface="Times New Roman" panose="02020603050405020304" pitchFamily="18" charset="0"/>
                <a:cs typeface="Times New Roman" panose="02020603050405020304" pitchFamily="18" charset="0"/>
              </a:rPr>
              <a:t>1.</a:t>
            </a:r>
            <a:r>
              <a:rPr lang="en-US" sz="1200" b="1" u="sng" dirty="0">
                <a:latin typeface="Times New Roman" panose="02020603050405020304" pitchFamily="18" charset="0"/>
                <a:cs typeface="Times New Roman" panose="02020603050405020304" pitchFamily="18" charset="0"/>
              </a:rPr>
              <a:t>Increase Conversion Rates:</a:t>
            </a:r>
          </a:p>
          <a:p>
            <a:pPr lvl="1" algn="just"/>
            <a:r>
              <a:rPr lang="en-US" sz="1200" b="1" dirty="0">
                <a:latin typeface="Times New Roman" panose="02020603050405020304" pitchFamily="18" charset="0"/>
                <a:cs typeface="Times New Roman" panose="02020603050405020304" pitchFamily="18" charset="0"/>
              </a:rPr>
              <a:t>Goal: </a:t>
            </a:r>
            <a:r>
              <a:rPr lang="en-US" sz="1200" dirty="0">
                <a:latin typeface="Times New Roman" panose="02020603050405020304" pitchFamily="18" charset="0"/>
                <a:cs typeface="Times New Roman" panose="02020603050405020304" pitchFamily="18" charset="0"/>
              </a:rPr>
              <a:t>Identify factors impacting the conversion rate and provide recommendations to improve it.</a:t>
            </a:r>
          </a:p>
          <a:p>
            <a:pPr lvl="1" algn="just"/>
            <a:r>
              <a:rPr lang="en-US" sz="1200" b="1" dirty="0">
                <a:latin typeface="Times New Roman" panose="02020603050405020304" pitchFamily="18" charset="0"/>
                <a:cs typeface="Times New Roman" panose="02020603050405020304" pitchFamily="18" charset="0"/>
              </a:rPr>
              <a:t>Insight: </a:t>
            </a:r>
            <a:r>
              <a:rPr lang="en-US" sz="1200" dirty="0">
                <a:latin typeface="Times New Roman" panose="02020603050405020304" pitchFamily="18" charset="0"/>
                <a:cs typeface="Times New Roman" panose="02020603050405020304" pitchFamily="18" charset="0"/>
              </a:rPr>
              <a:t>Highlight key stages where visitors drop off and suggest improvements to optimize the conversion funnel.</a:t>
            </a:r>
          </a:p>
          <a:p>
            <a:pPr marL="228600" lvl="1" indent="0" algn="just">
              <a:buNone/>
            </a:pPr>
            <a:endParaRPr lang="en-US" sz="1200" dirty="0">
              <a:latin typeface="Times New Roman" panose="02020603050405020304" pitchFamily="18" charset="0"/>
              <a:cs typeface="Times New Roman" panose="02020603050405020304" pitchFamily="18" charset="0"/>
            </a:endParaRPr>
          </a:p>
          <a:p>
            <a:pPr marL="0" indent="0" algn="just">
              <a:buNone/>
            </a:pPr>
            <a:r>
              <a:rPr lang="en-US" sz="1200" b="1" dirty="0">
                <a:latin typeface="Times New Roman" panose="02020603050405020304" pitchFamily="18" charset="0"/>
                <a:cs typeface="Times New Roman" panose="02020603050405020304" pitchFamily="18" charset="0"/>
              </a:rPr>
              <a:t>2.</a:t>
            </a:r>
            <a:r>
              <a:rPr lang="en-US" sz="1200" b="1" u="sng" dirty="0">
                <a:latin typeface="Times New Roman" panose="02020603050405020304" pitchFamily="18" charset="0"/>
                <a:cs typeface="Times New Roman" panose="02020603050405020304" pitchFamily="18" charset="0"/>
              </a:rPr>
              <a:t>Enhance Customer Engagement:</a:t>
            </a:r>
            <a:endParaRPr lang="en-US" sz="1200" u="sng" dirty="0">
              <a:latin typeface="Times New Roman" panose="02020603050405020304" pitchFamily="18" charset="0"/>
              <a:cs typeface="Times New Roman" panose="02020603050405020304" pitchFamily="18" charset="0"/>
            </a:endParaRPr>
          </a:p>
          <a:p>
            <a:pPr lvl="1" algn="just"/>
            <a:r>
              <a:rPr lang="en-US" sz="1200" b="1" dirty="0">
                <a:latin typeface="Times New Roman" panose="02020603050405020304" pitchFamily="18" charset="0"/>
                <a:cs typeface="Times New Roman" panose="02020603050405020304" pitchFamily="18" charset="0"/>
              </a:rPr>
              <a:t>Goal:</a:t>
            </a:r>
            <a:r>
              <a:rPr lang="en-US" sz="1200" dirty="0">
                <a:latin typeface="Times New Roman" panose="02020603050405020304" pitchFamily="18" charset="0"/>
                <a:cs typeface="Times New Roman" panose="02020603050405020304" pitchFamily="18" charset="0"/>
              </a:rPr>
              <a:t> Determine which types of content drive the highest engagement. </a:t>
            </a:r>
          </a:p>
          <a:p>
            <a:pPr lvl="1" algn="just"/>
            <a:r>
              <a:rPr lang="en-US" sz="1200" b="1" dirty="0">
                <a:latin typeface="Times New Roman" panose="02020603050405020304" pitchFamily="18" charset="0"/>
                <a:cs typeface="Times New Roman" panose="02020603050405020304" pitchFamily="18" charset="0"/>
              </a:rPr>
              <a:t>Insight:</a:t>
            </a:r>
            <a:r>
              <a:rPr lang="en-US" sz="1200" dirty="0">
                <a:latin typeface="Times New Roman" panose="02020603050405020304" pitchFamily="18" charset="0"/>
                <a:cs typeface="Times New Roman" panose="02020603050405020304" pitchFamily="18" charset="0"/>
              </a:rPr>
              <a:t> Analyze interaction levels with different types of marketing content to inform better content strategies.</a:t>
            </a:r>
          </a:p>
          <a:p>
            <a:pPr marL="228600" lvl="1" indent="0" algn="just">
              <a:buNone/>
            </a:pPr>
            <a:endParaRPr lang="en-US" sz="1200" dirty="0">
              <a:latin typeface="Times New Roman" panose="02020603050405020304" pitchFamily="18" charset="0"/>
              <a:cs typeface="Times New Roman" panose="02020603050405020304" pitchFamily="18" charset="0"/>
            </a:endParaRPr>
          </a:p>
          <a:p>
            <a:pPr marL="0" indent="0" algn="just">
              <a:buNone/>
            </a:pPr>
            <a:r>
              <a:rPr lang="en-US" sz="1200" b="1" dirty="0">
                <a:latin typeface="Times New Roman" panose="02020603050405020304" pitchFamily="18" charset="0"/>
                <a:cs typeface="Times New Roman" panose="02020603050405020304" pitchFamily="18" charset="0"/>
              </a:rPr>
              <a:t>3.</a:t>
            </a:r>
            <a:r>
              <a:rPr lang="en-US" sz="1200" b="1" u="sng" dirty="0">
                <a:latin typeface="Times New Roman" panose="02020603050405020304" pitchFamily="18" charset="0"/>
                <a:cs typeface="Times New Roman" panose="02020603050405020304" pitchFamily="18" charset="0"/>
              </a:rPr>
              <a:t>Improve Customer Feedback Scores:</a:t>
            </a:r>
            <a:endParaRPr lang="en-US" sz="1200" u="sng" dirty="0">
              <a:latin typeface="Times New Roman" panose="02020603050405020304" pitchFamily="18" charset="0"/>
              <a:cs typeface="Times New Roman" panose="02020603050405020304" pitchFamily="18" charset="0"/>
            </a:endParaRPr>
          </a:p>
          <a:p>
            <a:pPr lvl="1" algn="just"/>
            <a:r>
              <a:rPr lang="en-US" sz="1200" b="1" dirty="0">
                <a:latin typeface="Times New Roman" panose="02020603050405020304" pitchFamily="18" charset="0"/>
                <a:cs typeface="Times New Roman" panose="02020603050405020304" pitchFamily="18" charset="0"/>
              </a:rPr>
              <a:t>Goal:</a:t>
            </a:r>
            <a:r>
              <a:rPr lang="en-US" sz="1200" dirty="0">
                <a:latin typeface="Times New Roman" panose="02020603050405020304" pitchFamily="18" charset="0"/>
                <a:cs typeface="Times New Roman" panose="02020603050405020304" pitchFamily="18" charset="0"/>
              </a:rPr>
              <a:t> Understand common themes in customer reviews and provide actionable insights.</a:t>
            </a:r>
          </a:p>
          <a:p>
            <a:pPr lvl="1" algn="just"/>
            <a:r>
              <a:rPr lang="en-US" sz="1200" b="1" dirty="0">
                <a:latin typeface="Times New Roman" panose="02020603050405020304" pitchFamily="18" charset="0"/>
                <a:cs typeface="Times New Roman" panose="02020603050405020304" pitchFamily="18" charset="0"/>
              </a:rPr>
              <a:t>Insight:</a:t>
            </a:r>
            <a:r>
              <a:rPr lang="en-US" sz="1200" dirty="0">
                <a:latin typeface="Times New Roman" panose="02020603050405020304" pitchFamily="18" charset="0"/>
                <a:cs typeface="Times New Roman" panose="02020603050405020304" pitchFamily="18" charset="0"/>
              </a:rPr>
              <a:t> Identify recurring positive and negative feedback to guide product and service improvements.</a:t>
            </a:r>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635D4D"/>
      </a:dk2>
      <a:lt2>
        <a:srgbClr val="D8D6BA"/>
      </a:lt2>
      <a:accent1>
        <a:srgbClr val="9CBEBD"/>
      </a:accent1>
      <a:accent2>
        <a:srgbClr val="D2CB6C"/>
      </a:accent2>
      <a:accent3>
        <a:srgbClr val="9D9A93"/>
      </a:accent3>
      <a:accent4>
        <a:srgbClr val="C89F5D"/>
      </a:accent4>
      <a:accent5>
        <a:srgbClr val="A9A57C"/>
      </a:accent5>
      <a:accent6>
        <a:srgbClr val="95A39D"/>
      </a:accent6>
      <a:hlink>
        <a:srgbClr val="D25814"/>
      </a:hlink>
      <a:folHlink>
        <a:srgbClr val="849A0A"/>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0BDC4BB7-8AF9-46FD-8C32-AB93AC9C4100}"/>
    </a:ext>
  </a:extLst>
</a:theme>
</file>

<file path=docProps/app.xml><?xml version="1.0" encoding="utf-8"?>
<Properties xmlns="http://schemas.openxmlformats.org/officeDocument/2006/extended-properties" xmlns:vt="http://schemas.openxmlformats.org/officeDocument/2006/docPropsVTypes">
  <Template>Parcel</Template>
  <TotalTime>314</TotalTime>
  <Words>812</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Gill Sans MT</vt:lpstr>
      <vt:lpstr>Times New Roman</vt:lpstr>
      <vt:lpstr>Parcel</vt:lpstr>
      <vt:lpstr>Data Presentation</vt:lpstr>
      <vt:lpstr>Overview</vt:lpstr>
      <vt:lpstr>Decreased Conversion Rates</vt:lpstr>
      <vt:lpstr>Reduced Customer Engagement</vt:lpstr>
      <vt:lpstr>Customer Feedback Analysis</vt:lpstr>
      <vt:lpstr>Goals AND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hp</cp:lastModifiedBy>
  <cp:revision>17</cp:revision>
  <dcterms:created xsi:type="dcterms:W3CDTF">2024-09-03T15:16:05Z</dcterms:created>
  <dcterms:modified xsi:type="dcterms:W3CDTF">2025-10-02T17:04:50Z</dcterms:modified>
</cp:coreProperties>
</file>